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51"/>
    <p:restoredTop sz="94610"/>
  </p:normalViewPr>
  <p:slideViewPr>
    <p:cSldViewPr snapToGrid="0" snapToObjects="1">
      <p:cViewPr varScale="1">
        <p:scale>
          <a:sx n="292" d="100"/>
          <a:sy n="292" d="100"/>
        </p:scale>
        <p:origin x="4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9142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0" y="85725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65192" y="1314450"/>
            <a:ext cx="221361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MLOps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2893799" y="2114550"/>
            <a:ext cx="335640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Recommendation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15777" y="2891730"/>
            <a:ext cx="271244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2400"/>
              </a:spcBef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&amp; AI in Production • Fall 2025 • FAU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7322" y="3714601"/>
            <a:ext cx="15226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Zimmerman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7322" y="4019401"/>
            <a:ext cx="15226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PM/Delivery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77199" y="3714601"/>
            <a:ext cx="128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Arvin Nourian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77199" y="4019401"/>
            <a:ext cx="128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35751" y="3714601"/>
            <a:ext cx="18896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Lakshmi Latchireddi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35751" y="4019401"/>
            <a:ext cx="18896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Lead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97290" y="3714601"/>
            <a:ext cx="14687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Krushal Kalkani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97290" y="4019401"/>
            <a:ext cx="14687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Lead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228600"/>
            <a:ext cx="0" cy="304800"/>
          </a:xfrm>
          <a:prstGeom prst="line">
            <a:avLst/>
          </a:prstGeom>
          <a:noFill/>
          <a:ln w="5715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00050" y="228600"/>
            <a:ext cx="437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4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05A7248-6C39-6C79-0E7B-F805305A0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98" y="886542"/>
            <a:ext cx="8553890" cy="3702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228600"/>
            <a:ext cx="0" cy="304800"/>
          </a:xfrm>
          <a:prstGeom prst="line">
            <a:avLst/>
          </a:prstGeom>
          <a:noFill/>
          <a:ln w="5715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00050" y="228600"/>
            <a:ext cx="437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and Monitoring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800100"/>
            <a:ext cx="3238500" cy="1085850"/>
          </a:xfrm>
          <a:prstGeom prst="roundRect">
            <a:avLst>
              <a:gd name="adj" fmla="val 7018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8625" y="923925"/>
            <a:ext cx="30506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WORKFLOWS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28625" y="1114425"/>
            <a:ext cx="30506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ci.yml - PASS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28625" y="1276350"/>
            <a:ext cx="30506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cd.yml - PASS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28625" y="1438275"/>
            <a:ext cx="30506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probes.yml - PASS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28625" y="1628775"/>
            <a:ext cx="30506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coverage: 81% (target: 70%)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04800" y="1981200"/>
            <a:ext cx="3238500" cy="3048000"/>
          </a:xfrm>
          <a:prstGeom prst="roundRect">
            <a:avLst>
              <a:gd name="adj" fmla="val 25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9100" y="2095500"/>
            <a:ext cx="3070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90C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TARGET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19100" y="2305050"/>
            <a:ext cx="30700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Multi-stage Docker images on Render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19100" y="2516386"/>
            <a:ext cx="3070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19100" y="2678311"/>
            <a:ext cx="3070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tasks for HA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9100" y="2840236"/>
            <a:ext cx="3070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 450MB optimized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95700" y="800100"/>
            <a:ext cx="5143500" cy="4229100"/>
          </a:xfrm>
          <a:prstGeom prst="roundRect">
            <a:avLst>
              <a:gd name="adj" fmla="val 1802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38575" y="942975"/>
            <a:ext cx="49549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805A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SLO DASHBOARD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38575" y="1171575"/>
            <a:ext cx="2381250" cy="687586"/>
          </a:xfrm>
          <a:prstGeom prst="roundRect">
            <a:avLst>
              <a:gd name="adj" fmla="val 83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21633" y="1276350"/>
            <a:ext cx="221513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921633" y="1634430"/>
            <a:ext cx="221513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(72h)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6315075" y="1171575"/>
            <a:ext cx="2381250" cy="687586"/>
          </a:xfrm>
          <a:prstGeom prst="roundRect">
            <a:avLst>
              <a:gd name="adj" fmla="val 83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98133" y="1276350"/>
            <a:ext cx="221513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24ms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98133" y="1634430"/>
            <a:ext cx="221513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Latency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3838575" y="1954411"/>
            <a:ext cx="2381250" cy="687586"/>
          </a:xfrm>
          <a:prstGeom prst="roundRect">
            <a:avLst>
              <a:gd name="adj" fmla="val 83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921633" y="2059186"/>
            <a:ext cx="221513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921633" y="2417266"/>
            <a:ext cx="221513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6315075" y="1954411"/>
            <a:ext cx="2381250" cy="687586"/>
          </a:xfrm>
          <a:prstGeom prst="roundRect">
            <a:avLst>
              <a:gd name="adj" fmla="val 83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398133" y="2059186"/>
            <a:ext cx="221513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805A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98133" y="2417266"/>
            <a:ext cx="221513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Updates (7d)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3838575" y="2737247"/>
            <a:ext cx="4857750" cy="272355"/>
          </a:xfrm>
          <a:prstGeom prst="roundRect">
            <a:avLst>
              <a:gd name="adj" fmla="val 20984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914775" y="2813447"/>
            <a:ext cx="479945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Metrics: PSI(user)=0.005, PSI(item)=0.076 - both under 0.25 threshold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228600"/>
            <a:ext cx="0" cy="304800"/>
          </a:xfrm>
          <a:prstGeom prst="line">
            <a:avLst/>
          </a:prstGeom>
          <a:noFill/>
          <a:ln w="5715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00050" y="228600"/>
            <a:ext cx="52910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Fairness and Feedback Loops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800100"/>
            <a:ext cx="4191000" cy="1215033"/>
          </a:xfrm>
          <a:prstGeom prst="roundRect">
            <a:avLst>
              <a:gd name="adj" fmla="val 6271"/>
            </a:avLst>
          </a:prstGeom>
          <a:solidFill>
            <a:srgbClr val="F0FFF4"/>
          </a:solidFill>
          <a:ln w="9525">
            <a:solidFill>
              <a:srgbClr val="C6F6D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8625" y="92392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METRICS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28625" y="1114425"/>
            <a:ext cx="8894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Gini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28625" y="1280071"/>
            <a:ext cx="8894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Threshold: 0.35 or less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934322" y="1114425"/>
            <a:ext cx="43765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0.213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934322" y="1354336"/>
            <a:ext cx="43765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45"/>
              </a:lnSpc>
              <a:buNone/>
            </a:pPr>
            <a:r>
              <a:rPr lang="en-US" sz="675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28625" y="1531441"/>
            <a:ext cx="9087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Coverage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28625" y="1697087"/>
            <a:ext cx="9087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40% or more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876029" y="1531441"/>
            <a:ext cx="49594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37.2%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876029" y="1771352"/>
            <a:ext cx="49594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45"/>
              </a:lnSpc>
              <a:buNone/>
            </a:pPr>
            <a:r>
              <a:rPr lang="en-US" sz="675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04800" y="2110383"/>
            <a:ext cx="4191000" cy="2918817"/>
          </a:xfrm>
          <a:prstGeom prst="roundRect">
            <a:avLst>
              <a:gd name="adj" fmla="val 2611"/>
            </a:avLst>
          </a:prstGeom>
          <a:solidFill>
            <a:srgbClr val="FFF5F5"/>
          </a:solidFill>
          <a:ln w="9525">
            <a:solidFill>
              <a:srgbClr val="FED7D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28625" y="2234208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 DETECTED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8625" y="2424708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Popularity Echo Chamber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8625" y="2622798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items receive disproportionate exposure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28625" y="2813298"/>
            <a:ext cx="3943350" cy="558105"/>
          </a:xfrm>
          <a:prstGeom prst="roundRect">
            <a:avLst>
              <a:gd name="adj" fmla="val 102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6916" y="2889498"/>
            <a:ext cx="38667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5.7x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6916" y="3175248"/>
            <a:ext cx="38667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Amplification for top-tier items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648200" y="800100"/>
            <a:ext cx="4191000" cy="914400"/>
          </a:xfrm>
          <a:prstGeom prst="roundRect">
            <a:avLst>
              <a:gd name="adj" fmla="val 8333"/>
            </a:avLst>
          </a:prstGeom>
          <a:solidFill>
            <a:srgbClr val="EBF8FF"/>
          </a:solidFill>
          <a:ln w="9525">
            <a:solidFill>
              <a:srgbClr val="BEE3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72025" y="92392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MITIGATIONS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72025" y="111442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 re-ranking: Inject tail items into top-K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72025" y="128587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constraints: Cap max recs per item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72025" y="145732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Monitoring: Track Gini drift over time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648200" y="1809750"/>
            <a:ext cx="4191000" cy="3219450"/>
          </a:xfrm>
          <a:prstGeom prst="roundRect">
            <a:avLst>
              <a:gd name="adj" fmla="val 2367"/>
            </a:avLst>
          </a:prstGeom>
          <a:solidFill>
            <a:srgbClr val="FAF5FF"/>
          </a:solidFill>
          <a:ln w="9525">
            <a:solidFill>
              <a:srgbClr val="E9D8F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72025" y="193357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805A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METHOD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72025" y="212407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 10K+ recommendations from Kafka logs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772025" y="229552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 Lorenz curve for exposure distribution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72025" y="246697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items into popularity tiers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72025" y="263842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amplification ratio per tier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228600"/>
            <a:ext cx="0" cy="304800"/>
          </a:xfrm>
          <a:prstGeom prst="line">
            <a:avLst/>
          </a:prstGeom>
          <a:noFill/>
          <a:ln w="5715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00050" y="228600"/>
            <a:ext cx="437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and Provenance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800100"/>
            <a:ext cx="4191000" cy="914400"/>
          </a:xfrm>
          <a:prstGeom prst="roundRect">
            <a:avLst>
              <a:gd name="adj" fmla="val 8333"/>
            </a:avLst>
          </a:prstGeom>
          <a:solidFill>
            <a:srgbClr val="FFF5F5"/>
          </a:solidFill>
          <a:ln w="9525">
            <a:solidFill>
              <a:srgbClr val="FED7D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8625" y="92392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28625" y="111442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Kafka: Unauthorized access, message injection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28625" y="128587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API: DoS attacks, injection, unauthorized access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28625" y="145732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Registry: Model poisoning, unauthorized promotion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04800" y="1809750"/>
            <a:ext cx="4191000" cy="1028551"/>
          </a:xfrm>
          <a:prstGeom prst="roundRect">
            <a:avLst>
              <a:gd name="adj" fmla="val 7408"/>
            </a:avLst>
          </a:prstGeom>
          <a:solidFill>
            <a:srgbClr val="FEFCBF"/>
          </a:solidFill>
          <a:ln w="9525">
            <a:solidFill>
              <a:srgbClr val="F6E0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8625" y="193357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7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ATTACK: RATING SPAM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28625" y="212407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users flood system with fake ratings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28625" y="2314575"/>
            <a:ext cx="3943350" cy="399901"/>
          </a:xfrm>
          <a:prstGeom prst="roundRect">
            <a:avLst>
              <a:gd name="adj" fmla="val 95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5775" y="2371725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Detected: 2 spam accounts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85775" y="2537371"/>
            <a:ext cx="39056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8888, 9999 (mean + 3 sigma threshold)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4648200" y="800100"/>
            <a:ext cx="4191000" cy="1219200"/>
          </a:xfrm>
          <a:prstGeom prst="roundRect">
            <a:avLst>
              <a:gd name="adj" fmla="val 6250"/>
            </a:avLst>
          </a:prstGeom>
          <a:solidFill>
            <a:srgbClr val="F0FFF4"/>
          </a:solidFill>
          <a:ln w="9525">
            <a:solidFill>
              <a:srgbClr val="C6F6D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72025" y="92392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72025" y="111442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SASL/SSL authentication for Kafka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772025" y="1276350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Avro schema validation (reject malformed)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72025" y="143827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Secrets for credentials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72025" y="1600200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 container scanning in CI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72025" y="176212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gates for model promotion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48200" y="2114550"/>
            <a:ext cx="4191000" cy="2914650"/>
          </a:xfrm>
          <a:prstGeom prst="roundRect">
            <a:avLst>
              <a:gd name="adj" fmla="val 2614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62500" y="2228850"/>
            <a:ext cx="40416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0C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PROVENANCE TRACKING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62500" y="2419350"/>
            <a:ext cx="3962400" cy="1562100"/>
          </a:xfrm>
          <a:prstGeom prst="roundRect">
            <a:avLst>
              <a:gd name="adj" fmla="val 243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38700" y="249555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50"/>
              </a:spcAft>
              <a:buNone/>
            </a:pPr>
            <a:r>
              <a:rPr lang="en-US" sz="1500" dirty="0">
                <a:solidFill>
                  <a:srgbClr val="A0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request_id: 7ea6a783...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38700" y="27813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50"/>
              </a:spcAft>
              <a:buNone/>
            </a:pPr>
            <a:r>
              <a:rPr lang="en-US" sz="1500" dirty="0">
                <a:solidFill>
                  <a:srgbClr val="A0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model_version: v_ncf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38700" y="306705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50"/>
              </a:spcAft>
              <a:buNone/>
            </a:pPr>
            <a:r>
              <a:rPr lang="en-US" sz="1500" dirty="0">
                <a:solidFill>
                  <a:srgbClr val="A0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git_sha: ab9511e7...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38700" y="33528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50"/>
              </a:spcAft>
              <a:buNone/>
            </a:pPr>
            <a:r>
              <a:rPr lang="en-US" sz="1500" dirty="0">
                <a:solidFill>
                  <a:srgbClr val="A0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data_snapshot: m1m_20231115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38700" y="363855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0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latency_ms: 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62500" y="4038600"/>
            <a:ext cx="40416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prediction traceable to exact code + data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228600"/>
            <a:ext cx="0" cy="304800"/>
          </a:xfrm>
          <a:prstGeom prst="line">
            <a:avLst/>
          </a:prstGeom>
          <a:noFill/>
          <a:ln w="5715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00050" y="228600"/>
            <a:ext cx="437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Achievements</a:t>
            </a:r>
            <a:endParaRPr lang="en-US" sz="2400" dirty="0"/>
          </a:p>
        </p:txBody>
      </p:sp>
      <p:pic>
        <p:nvPicPr>
          <p:cNvPr id="4" name="Image 0" descr="/tmp/rasterized-gradient-da4ccf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800100"/>
            <a:ext cx="3352800" cy="8246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8150" y="933450"/>
            <a:ext cx="314782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438150" y="1344811"/>
            <a:ext cx="31478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(72h window)</a:t>
            </a:r>
            <a:endParaRPr lang="en-US" sz="825" dirty="0"/>
          </a:p>
        </p:txBody>
      </p:sp>
      <p:pic>
        <p:nvPicPr>
          <p:cNvPr id="7" name="Image 1" descr="/tmp/rasterized-gradient-c0acec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700957"/>
            <a:ext cx="3352800" cy="8246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8150" y="1834307"/>
            <a:ext cx="314782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24ms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438150" y="2245668"/>
            <a:ext cx="31478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Latency (target: 100ms)</a:t>
            </a:r>
            <a:endParaRPr lang="en-US" sz="825" dirty="0"/>
          </a:p>
        </p:txBody>
      </p:sp>
      <p:pic>
        <p:nvPicPr>
          <p:cNvPr id="10" name="Image 2" descr="/tmp/rasterized-gradient-01addd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601813"/>
            <a:ext cx="3352800" cy="82465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38150" y="2735163"/>
            <a:ext cx="314782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438150" y="3146524"/>
            <a:ext cx="31478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Coverage (target: 70%)</a:t>
            </a:r>
            <a:endParaRPr lang="en-US" sz="825" dirty="0"/>
          </a:p>
        </p:txBody>
      </p:sp>
      <p:sp>
        <p:nvSpPr>
          <p:cNvPr id="13" name="Text 8"/>
          <p:cNvSpPr/>
          <p:nvPr/>
        </p:nvSpPr>
        <p:spPr>
          <a:xfrm>
            <a:off x="3810000" y="800100"/>
            <a:ext cx="5029200" cy="1114127"/>
          </a:xfrm>
          <a:prstGeom prst="roundRect">
            <a:avLst>
              <a:gd name="adj" fmla="val 6839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3933825" y="923925"/>
            <a:ext cx="48771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COMPLETED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3933825" y="1114425"/>
            <a:ext cx="48771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M1: Architecture - DONE</a:t>
            </a:r>
            <a:endParaRPr lang="en-US" sz="675" dirty="0"/>
          </a:p>
        </p:txBody>
      </p:sp>
      <p:sp>
        <p:nvSpPr>
          <p:cNvPr id="16" name="Text 11"/>
          <p:cNvSpPr/>
          <p:nvPr/>
        </p:nvSpPr>
        <p:spPr>
          <a:xfrm>
            <a:off x="3933825" y="1253430"/>
            <a:ext cx="48771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M2: Kafka + Baselines - DONE</a:t>
            </a:r>
            <a:endParaRPr lang="en-US" sz="675" dirty="0"/>
          </a:p>
        </p:txBody>
      </p:sp>
      <p:sp>
        <p:nvSpPr>
          <p:cNvPr id="17" name="Text 12"/>
          <p:cNvSpPr/>
          <p:nvPr/>
        </p:nvSpPr>
        <p:spPr>
          <a:xfrm>
            <a:off x="3933825" y="1392436"/>
            <a:ext cx="48771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M3: Eval + CI/CD - DONE</a:t>
            </a:r>
            <a:endParaRPr lang="en-US" sz="675" dirty="0"/>
          </a:p>
        </p:txBody>
      </p:sp>
      <p:sp>
        <p:nvSpPr>
          <p:cNvPr id="18" name="Text 13"/>
          <p:cNvSpPr/>
          <p:nvPr/>
        </p:nvSpPr>
        <p:spPr>
          <a:xfrm>
            <a:off x="3933825" y="1531441"/>
            <a:ext cx="48771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M4: Monitoring + A/B - DONE</a:t>
            </a:r>
            <a:endParaRPr lang="en-US" sz="675" dirty="0"/>
          </a:p>
        </p:txBody>
      </p:sp>
      <p:sp>
        <p:nvSpPr>
          <p:cNvPr id="19" name="Text 14"/>
          <p:cNvSpPr/>
          <p:nvPr/>
        </p:nvSpPr>
        <p:spPr>
          <a:xfrm>
            <a:off x="3933825" y="1670447"/>
            <a:ext cx="48771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M5: Fairness + Security - DONE</a:t>
            </a:r>
            <a:endParaRPr lang="en-US" sz="675" dirty="0"/>
          </a:p>
        </p:txBody>
      </p:sp>
      <p:sp>
        <p:nvSpPr>
          <p:cNvPr id="20" name="Text 15"/>
          <p:cNvSpPr/>
          <p:nvPr/>
        </p:nvSpPr>
        <p:spPr>
          <a:xfrm>
            <a:off x="3810000" y="1990427"/>
            <a:ext cx="5029200" cy="3038773"/>
          </a:xfrm>
          <a:prstGeom prst="roundRect">
            <a:avLst>
              <a:gd name="adj" fmla="val 2508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3933825" y="2114252"/>
            <a:ext cx="48771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FEATURES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3933825" y="2304752"/>
            <a:ext cx="2419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Kafka streaming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343650" y="2304752"/>
            <a:ext cx="2419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trained ML models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3933825" y="2609552"/>
            <a:ext cx="2419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retraining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343650" y="2609552"/>
            <a:ext cx="2419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framework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3933825" y="2914352"/>
            <a:ext cx="2419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Hot-swap model switching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343650" y="2914352"/>
            <a:ext cx="2419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provenance tracking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3933825" y="3219152"/>
            <a:ext cx="2419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detection (PSI/KL)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6343650" y="3219152"/>
            <a:ext cx="2419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dashboards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3933825" y="3523952"/>
            <a:ext cx="2419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analysis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6343650" y="3523952"/>
            <a:ext cx="2419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threat model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0" y="632668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64017" y="1089868"/>
            <a:ext cx="201596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4129641" y="1889968"/>
            <a:ext cx="88471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1800"/>
              </a:spcBef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453283" y="2739479"/>
            <a:ext cx="4237286" cy="880021"/>
          </a:xfrm>
          <a:prstGeom prst="roundRect">
            <a:avLst>
              <a:gd name="adj" fmla="val 865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99530" y="2968079"/>
            <a:ext cx="35447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github.com/mlops-group-proj/movie-recs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99530" y="3230910"/>
            <a:ext cx="35447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6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API: http://ec2-54-221-101-86.compute-1.amazonaws.com:8080/docs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41565" y="4152900"/>
            <a:ext cx="13203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Zimmerman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541565" y="4364236"/>
            <a:ext cx="13203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dzimmerman2021@fau.edu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295248" y="4152900"/>
            <a:ext cx="111880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Arvin Nourian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295248" y="4364236"/>
            <a:ext cx="11188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anourian2024@fau.edu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848238" y="4152900"/>
            <a:ext cx="12282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Lakshmi Latchireddi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848238" y="4364236"/>
            <a:ext cx="1228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llatchireddi2022@fau.edu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510972" y="4152900"/>
            <a:ext cx="10890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Krushal Kalkani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510972" y="4364236"/>
            <a:ext cx="10890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kkalkani2024@fau.edu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4286AEBB39C242943DD04E03F2DAD5" ma:contentTypeVersion="11" ma:contentTypeDescription="Create a new document." ma:contentTypeScope="" ma:versionID="5d3bf4ed0dfbc3789c6dbc63f804056b">
  <xsd:schema xmlns:xsd="http://www.w3.org/2001/XMLSchema" xmlns:xs="http://www.w3.org/2001/XMLSchema" xmlns:p="http://schemas.microsoft.com/office/2006/metadata/properties" xmlns:ns2="6e6e4192-2c3e-408f-ac43-23fd54c029ee" xmlns:ns3="dba3567a-d947-427b-a3d7-5d0a7989c099" targetNamespace="http://schemas.microsoft.com/office/2006/metadata/properties" ma:root="true" ma:fieldsID="37c48e5f1dd09d282c50806165a5d7fe" ns2:_="" ns3:_="">
    <xsd:import namespace="6e6e4192-2c3e-408f-ac43-23fd54c029ee"/>
    <xsd:import namespace="dba3567a-d947-427b-a3d7-5d0a7989c0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e4192-2c3e-408f-ac43-23fd54c029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728a8d2-fce2-4ead-88e1-13feca9680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a3567a-d947-427b-a3d7-5d0a7989c09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c19547d-35f6-417a-a6b7-6585da0e4ed3}" ma:internalName="TaxCatchAll" ma:showField="CatchAllData" ma:web="dba3567a-d947-427b-a3d7-5d0a7989c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e4192-2c3e-408f-ac43-23fd54c029ee">
      <Terms xmlns="http://schemas.microsoft.com/office/infopath/2007/PartnerControls"/>
    </lcf76f155ced4ddcb4097134ff3c332f>
    <TaxCatchAll xmlns="dba3567a-d947-427b-a3d7-5d0a7989c099" xsi:nil="true"/>
  </documentManagement>
</p:properties>
</file>

<file path=customXml/itemProps1.xml><?xml version="1.0" encoding="utf-8"?>
<ds:datastoreItem xmlns:ds="http://schemas.openxmlformats.org/officeDocument/2006/customXml" ds:itemID="{74B93AD5-596C-411E-9B32-FEC2799751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6e4192-2c3e-408f-ac43-23fd54c029ee"/>
    <ds:schemaRef ds:uri="dba3567a-d947-427b-a3d7-5d0a7989c0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B15613F-96F3-4927-90A4-4D2211A5D8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0C50A3-FBEA-43C1-A874-0B7F24874A7E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terms/"/>
    <ds:schemaRef ds:uri="dba3567a-d947-427b-a3d7-5d0a7989c099"/>
    <ds:schemaRef ds:uri="http://purl.org/dc/elements/1.1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6e6e4192-2c3e-408f-ac43-23fd54c029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502</Words>
  <Application>Microsoft Macintosh PowerPoint</Application>
  <PresentationFormat>On-screen Show (16:9)</PresentationFormat>
  <Paragraphs>121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Georgia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MedicalAI - Movie Recommendation System</dc:title>
  <dc:subject>PptxGenJS Presentation</dc:subject>
  <dc:creator>Team MedicalAI</dc:creator>
  <cp:lastModifiedBy>Dan Zimmerman</cp:lastModifiedBy>
  <cp:revision>5</cp:revision>
  <dcterms:created xsi:type="dcterms:W3CDTF">2025-11-27T04:21:26Z</dcterms:created>
  <dcterms:modified xsi:type="dcterms:W3CDTF">2025-11-29T04:31:47Z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0x0101000C4286AEBB39C242943DD04E03F2DAD5</vt:lpwstr>
  </property>
  <property fmtid="{D5CDD505-2E9C-101B-9397-08002B2CF9AE}" pid="3" name="MediaServiceImageTags">
    <vt:lpwstr/>
  </property>
</Properties>
</file>